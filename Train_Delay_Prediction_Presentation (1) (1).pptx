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6B6B"/>
                </a:solidFill>
              </a:defRPr>
            </a:pPr>
            <a:r>
              <a:t>🚂 Train Delay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Real-time ML Predictions with RAG &amp; Indian AI</a:t>
            </a:r>
          </a:p>
          <a:p>
            <a:endParaRPr dirty="0"/>
          </a:p>
          <a:p>
            <a:r>
              <a:rPr dirty="0"/>
              <a:t>Built on </a:t>
            </a:r>
            <a:r>
              <a:rPr dirty="0" err="1"/>
              <a:t>Databricks</a:t>
            </a:r>
            <a:r>
              <a:rPr dirty="0"/>
              <a:t> | 4-Layer Medallion Architecture</a:t>
            </a:r>
          </a:p>
          <a:p>
            <a:endParaRPr dirty="0"/>
          </a:p>
          <a:p>
            <a:r>
              <a:rPr dirty="0"/>
              <a:t>By: </a:t>
            </a:r>
            <a:r>
              <a:rPr dirty="0" err="1"/>
              <a:t>Gautam</a:t>
            </a:r>
            <a:r>
              <a:rPr dirty="0"/>
              <a:t> </a:t>
            </a:r>
            <a:r>
              <a:rPr dirty="0" smtClean="0"/>
              <a:t>Kumar</a:t>
            </a:r>
            <a:r>
              <a:rPr lang="en-US" dirty="0" smtClean="0"/>
              <a:t>, </a:t>
            </a:r>
            <a:r>
              <a:rPr lang="en-US" dirty="0" err="1" smtClean="0"/>
              <a:t>Mihir</a:t>
            </a:r>
            <a:r>
              <a:rPr lang="en-US" dirty="0" smtClean="0"/>
              <a:t> Patel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Challenge:</a:t>
            </a:r>
          </a:p>
          <a:p>
            <a:pPr marL="0" indent="0">
              <a:buNone/>
              <a:defRPr sz="1800"/>
            </a:pPr>
            <a:r>
              <a:rPr dirty="0"/>
              <a:t>• Indian Railways: 23+ million passengers daily</a:t>
            </a:r>
          </a:p>
          <a:p>
            <a:pPr marL="0" indent="0">
              <a:buNone/>
              <a:defRPr sz="1800"/>
            </a:pPr>
            <a:r>
              <a:rPr dirty="0"/>
              <a:t>• Frequent delays during fog season (Nov-Feb)</a:t>
            </a:r>
          </a:p>
          <a:p>
            <a:pPr marL="0" indent="0">
              <a:buNone/>
              <a:defRPr sz="1800"/>
            </a:pPr>
            <a:r>
              <a:rPr dirty="0"/>
              <a:t>• Passengers lack reliable delay predictions</a:t>
            </a:r>
          </a:p>
          <a:p>
            <a:pPr marL="0" indent="0">
              <a:buNone/>
              <a:defRPr sz="1800"/>
            </a:pPr>
            <a:r>
              <a:rPr dirty="0"/>
              <a:t>• Limited information on alternatives &amp; compensation</a:t>
            </a:r>
          </a:p>
          <a:p>
            <a:pPr marL="0" indent="0">
              <a:buNone/>
              <a:defRPr sz="1800"/>
            </a:pPr>
            <a:r>
              <a:rPr dirty="0"/>
              <a:t>• Language barriers for non-English </a:t>
            </a:r>
            <a:r>
              <a:rPr dirty="0" smtClean="0"/>
              <a:t>speakers</a:t>
            </a:r>
          </a:p>
          <a:p>
            <a:pPr marL="0" indent="0">
              <a:buNone/>
            </a:pPr>
            <a:r>
              <a:rPr dirty="0" smtClean="0"/>
              <a:t/>
            </a:r>
            <a:br>
              <a:rPr dirty="0" smtClean="0"/>
            </a:br>
            <a:r>
              <a:rPr dirty="0" smtClean="0"/>
              <a:t>💡 Our Solution:</a:t>
            </a:r>
          </a:p>
          <a:p>
            <a:pPr>
              <a:defRPr sz="1800" i="1"/>
            </a:pPr>
            <a:r>
              <a:rPr dirty="0" smtClean="0"/>
              <a:t>ML-powered </a:t>
            </a:r>
            <a:r>
              <a:rPr dirty="0"/>
              <a:t>prediction system with intelligent RAG </a:t>
            </a:r>
            <a:r>
              <a:rPr dirty="0" err="1"/>
              <a:t>chatbot</a:t>
            </a:r>
            <a:r>
              <a:rPr dirty="0"/>
              <a:t> and multilingual support using Indian AI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🏗️ Four-Layer Medallion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  <a:defRPr sz="1600" b="1">
                <a:solidFill>
                  <a:srgbClr val="337AB7"/>
                </a:solidFill>
              </a:defRPr>
            </a:pPr>
            <a:r>
              <a:rPr dirty="0"/>
              <a:t>LAYER 1: Data Ingestion (Bronze)</a:t>
            </a:r>
          </a:p>
          <a:p>
            <a:pPr marL="0" indent="0">
              <a:buNone/>
              <a:defRPr sz="1400"/>
            </a:pPr>
            <a:r>
              <a:rPr dirty="0"/>
              <a:t>  • Unity Catalog tables: train, weather, AQI data</a:t>
            </a:r>
          </a:p>
          <a:p>
            <a:pPr marL="0" indent="0">
              <a:buNone/>
              <a:defRPr sz="1400"/>
            </a:pPr>
            <a:r>
              <a:rPr dirty="0"/>
              <a:t>  • Real-time APIs: </a:t>
            </a:r>
            <a:r>
              <a:rPr dirty="0" err="1"/>
              <a:t>OpenWeatherMap</a:t>
            </a:r>
            <a:r>
              <a:rPr dirty="0"/>
              <a:t>, </a:t>
            </a:r>
            <a:r>
              <a:rPr dirty="0" err="1"/>
              <a:t>OpenAQ</a:t>
            </a:r>
            <a:endParaRPr dirty="0"/>
          </a:p>
          <a:p>
            <a:pPr marL="0" indent="0">
              <a:buNone/>
              <a:defRPr sz="1400"/>
            </a:pPr>
            <a:r>
              <a:rPr dirty="0"/>
              <a:t>  • 1,000+ train records, 5,760+ weather/AQI records</a:t>
            </a:r>
          </a:p>
          <a:p>
            <a:pPr marL="0" indent="0">
              <a:buNone/>
              <a:defRPr sz="1600" b="1">
                <a:solidFill>
                  <a:srgbClr val="337AB7"/>
                </a:solidFill>
              </a:defRPr>
            </a:pPr>
            <a:r>
              <a:rPr dirty="0"/>
              <a:t>LAYER 2: Data Engineering (Silver → Gold)</a:t>
            </a:r>
          </a:p>
          <a:p>
            <a:pPr marL="0" indent="0">
              <a:buNone/>
              <a:defRPr sz="1400"/>
            </a:pPr>
            <a:r>
              <a:rPr dirty="0"/>
              <a:t>  • Data cleaning &amp; validation</a:t>
            </a:r>
          </a:p>
          <a:p>
            <a:pPr marL="0" indent="0">
              <a:buNone/>
              <a:defRPr sz="1400"/>
            </a:pPr>
            <a:r>
              <a:rPr dirty="0"/>
              <a:t>  • Dew Point Spread calculation (fog indicator)</a:t>
            </a:r>
          </a:p>
          <a:p>
            <a:pPr marL="0" indent="0">
              <a:buNone/>
              <a:defRPr sz="1400"/>
            </a:pPr>
            <a:r>
              <a:rPr dirty="0"/>
              <a:t>  • Feature engineering: 28 features</a:t>
            </a:r>
          </a:p>
          <a:p>
            <a:pPr marL="0" indent="0">
              <a:buNone/>
              <a:defRPr sz="1400"/>
            </a:pPr>
            <a:r>
              <a:rPr dirty="0"/>
              <a:t>  • Historical averages by station/hour</a:t>
            </a:r>
          </a:p>
          <a:p>
            <a:pPr marL="0" indent="0">
              <a:buNone/>
              <a:defRPr sz="1600" b="1">
                <a:solidFill>
                  <a:srgbClr val="337AB7"/>
                </a:solidFill>
              </a:defRPr>
            </a:pPr>
            <a:r>
              <a:rPr dirty="0"/>
              <a:t>LAYER 3: ML &amp; Intelligence</a:t>
            </a:r>
          </a:p>
          <a:p>
            <a:pPr marL="0" indent="0">
              <a:buNone/>
              <a:defRPr sz="1400"/>
            </a:pPr>
            <a:r>
              <a:rPr dirty="0"/>
              <a:t>  • Random Forest + </a:t>
            </a:r>
            <a:r>
              <a:rPr dirty="0" err="1"/>
              <a:t>XGBoost</a:t>
            </a:r>
            <a:r>
              <a:rPr dirty="0"/>
              <a:t> models</a:t>
            </a:r>
          </a:p>
          <a:p>
            <a:pPr marL="0" indent="0">
              <a:buNone/>
              <a:defRPr sz="1400"/>
            </a:pPr>
            <a:r>
              <a:rPr dirty="0"/>
              <a:t>  • Best MAE: 25.91 minutes, R² = 0.602</a:t>
            </a:r>
          </a:p>
          <a:p>
            <a:pPr marL="0" indent="0">
              <a:buNone/>
              <a:defRPr sz="1400"/>
            </a:pPr>
            <a:r>
              <a:rPr dirty="0"/>
              <a:t>  • </a:t>
            </a:r>
            <a:r>
              <a:rPr dirty="0" err="1"/>
              <a:t>ChromaDB</a:t>
            </a:r>
            <a:r>
              <a:rPr dirty="0"/>
              <a:t> vector database for RAG</a:t>
            </a:r>
          </a:p>
          <a:p>
            <a:pPr marL="0" indent="0">
              <a:buNone/>
              <a:defRPr sz="1400"/>
            </a:pPr>
            <a:r>
              <a:rPr dirty="0"/>
              <a:t>  • Indian AI models (IndicTrans2, </a:t>
            </a:r>
            <a:r>
              <a:rPr dirty="0" err="1"/>
              <a:t>Sarvam</a:t>
            </a:r>
            <a:r>
              <a:rPr dirty="0"/>
              <a:t>)</a:t>
            </a:r>
          </a:p>
          <a:p>
            <a:pPr marL="0" indent="0">
              <a:buNone/>
              <a:defRPr sz="1600" b="1">
                <a:solidFill>
                  <a:srgbClr val="337AB7"/>
                </a:solidFill>
              </a:defRPr>
            </a:pPr>
            <a:r>
              <a:rPr dirty="0"/>
              <a:t>LAYER 4: Consumption</a:t>
            </a:r>
          </a:p>
          <a:p>
            <a:pPr marL="0" indent="0">
              <a:buNone/>
              <a:defRPr sz="1400"/>
            </a:pPr>
            <a:r>
              <a:rPr dirty="0"/>
              <a:t>  • Smart prediction: Live API vs Historical</a:t>
            </a:r>
          </a:p>
          <a:p>
            <a:pPr marL="0" indent="0">
              <a:buNone/>
              <a:defRPr sz="1400"/>
            </a:pPr>
            <a:r>
              <a:rPr dirty="0"/>
              <a:t>  • Interactive notebook widgets</a:t>
            </a:r>
          </a:p>
          <a:p>
            <a:pPr marL="0" indent="0">
              <a:buNone/>
              <a:defRPr sz="1400"/>
            </a:pPr>
            <a:r>
              <a:rPr dirty="0"/>
              <a:t>  • </a:t>
            </a:r>
            <a:r>
              <a:rPr dirty="0" err="1"/>
              <a:t>Streamlit</a:t>
            </a:r>
            <a:r>
              <a:rPr dirty="0"/>
              <a:t> production app</a:t>
            </a:r>
          </a:p>
          <a:p>
            <a:pPr marL="0" indent="0">
              <a:buNone/>
              <a:defRPr sz="1400"/>
            </a:pPr>
            <a:r>
              <a:rPr dirty="0"/>
              <a:t>  • Multilingual support (6+ languages)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ML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Models Trained:</a:t>
            </a:r>
          </a:p>
          <a:p>
            <a:pPr marL="0" indent="0">
              <a:buNone/>
              <a:defRPr sz="1800" b="1"/>
            </a:pPr>
            <a:r>
              <a:rPr dirty="0"/>
              <a:t>• Random Forest (Winner)</a:t>
            </a:r>
          </a:p>
          <a:p>
            <a:pPr marL="457200" lvl="1" indent="0">
              <a:buNone/>
              <a:defRPr sz="1600"/>
            </a:pPr>
            <a:r>
              <a:rPr dirty="0"/>
              <a:t>  MAE: 25.91 min | RMSE: 36.37 min | R²: 0.602</a:t>
            </a:r>
          </a:p>
          <a:p>
            <a:pPr marL="0" indent="0">
              <a:buNone/>
              <a:defRPr sz="1800" b="1"/>
            </a:pPr>
            <a:r>
              <a:rPr dirty="0"/>
              <a:t>• </a:t>
            </a:r>
            <a:r>
              <a:rPr dirty="0" err="1"/>
              <a:t>XGBoost</a:t>
            </a:r>
            <a:endParaRPr dirty="0"/>
          </a:p>
          <a:p>
            <a:pPr marL="457200" lvl="1" indent="0">
              <a:buNone/>
              <a:defRPr sz="1600"/>
            </a:pPr>
            <a:r>
              <a:rPr dirty="0"/>
              <a:t>  MAE: 29.68 min | RMSE: 40.69 min | R²: 0.567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Top Predictive Features:</a:t>
            </a:r>
          </a:p>
          <a:p>
            <a:pPr marL="0" indent="0">
              <a:buNone/>
              <a:defRPr sz="1400"/>
            </a:pPr>
            <a:r>
              <a:rPr dirty="0"/>
              <a:t>• </a:t>
            </a:r>
            <a:r>
              <a:rPr dirty="0" err="1"/>
              <a:t>station_avg_delay</a:t>
            </a:r>
            <a:r>
              <a:rPr dirty="0"/>
              <a:t> - Historical station performance</a:t>
            </a:r>
          </a:p>
          <a:p>
            <a:pPr marL="0" indent="0">
              <a:buNone/>
              <a:defRPr sz="1400"/>
            </a:pPr>
            <a:r>
              <a:rPr dirty="0"/>
              <a:t>• </a:t>
            </a:r>
            <a:r>
              <a:rPr dirty="0" err="1"/>
              <a:t>train_avg_delay</a:t>
            </a:r>
            <a:r>
              <a:rPr dirty="0"/>
              <a:t> - Historical train performance</a:t>
            </a:r>
          </a:p>
          <a:p>
            <a:pPr marL="0" indent="0">
              <a:buNone/>
              <a:defRPr sz="1400"/>
            </a:pPr>
            <a:r>
              <a:rPr dirty="0"/>
              <a:t>• </a:t>
            </a:r>
            <a:r>
              <a:rPr dirty="0" err="1"/>
              <a:t>hour_avg_delay</a:t>
            </a:r>
            <a:r>
              <a:rPr dirty="0"/>
              <a:t> - Time-of-day patterns</a:t>
            </a:r>
          </a:p>
          <a:p>
            <a:pPr marL="0" indent="0">
              <a:buNone/>
              <a:defRPr sz="1400"/>
            </a:pPr>
            <a:r>
              <a:rPr dirty="0"/>
              <a:t>• visibility - Fog indicator</a:t>
            </a:r>
          </a:p>
          <a:p>
            <a:pPr marL="0" indent="0">
              <a:buNone/>
              <a:defRPr sz="1400"/>
            </a:pPr>
            <a:r>
              <a:rPr dirty="0"/>
              <a:t>• </a:t>
            </a:r>
            <a:r>
              <a:rPr dirty="0" err="1"/>
              <a:t>dew_point_spread</a:t>
            </a:r>
            <a:r>
              <a:rPr dirty="0"/>
              <a:t> - Fog likelihood (&lt; 2.5°C = high risk)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🇮🇳 Indian AI Model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  <a:defRPr sz="1800" b="1">
                <a:solidFill>
                  <a:srgbClr val="FF9900"/>
                </a:solidFill>
              </a:defRPr>
            </a:pPr>
            <a:r>
              <a:rPr dirty="0"/>
              <a:t>Competition Requirement: Use Indian-built AI models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 smtClean="0"/>
              <a:t> </a:t>
            </a:r>
            <a:r>
              <a:rPr dirty="0"/>
              <a:t>Our Implementation: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 err="1"/>
              <a:t>Bhashini</a:t>
            </a:r>
            <a:r>
              <a:rPr dirty="0"/>
              <a:t> API (Government of India)</a:t>
            </a:r>
          </a:p>
          <a:p>
            <a:pPr marL="457200" lvl="1" indent="0">
              <a:buNone/>
              <a:defRPr sz="1400"/>
            </a:pPr>
            <a:r>
              <a:rPr dirty="0"/>
              <a:t>  • Free, government-backed platform</a:t>
            </a:r>
          </a:p>
          <a:p>
            <a:pPr marL="457200" lvl="1" indent="0">
              <a:buNone/>
              <a:defRPr sz="1400"/>
            </a:pPr>
            <a:r>
              <a:rPr dirty="0"/>
              <a:t>  • Uses IndicTrans2 model (1.3B parameters)</a:t>
            </a:r>
          </a:p>
          <a:p>
            <a:pPr marL="457200" lvl="1" indent="0">
              <a:buNone/>
              <a:defRPr sz="1400"/>
            </a:pPr>
            <a:r>
              <a:rPr dirty="0"/>
              <a:t>  • Translation for 10+ Indian languages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 err="1"/>
              <a:t>Sarvam</a:t>
            </a:r>
            <a:r>
              <a:rPr dirty="0"/>
              <a:t> AI Integration</a:t>
            </a:r>
          </a:p>
          <a:p>
            <a:pPr marL="457200" lvl="1" indent="0">
              <a:buNone/>
              <a:defRPr sz="1400"/>
            </a:pPr>
            <a:r>
              <a:rPr dirty="0"/>
              <a:t>  • Commercial Indian AI startup</a:t>
            </a:r>
          </a:p>
          <a:p>
            <a:pPr marL="457200" lvl="1" indent="0">
              <a:buNone/>
              <a:defRPr sz="1400"/>
            </a:pPr>
            <a:r>
              <a:rPr dirty="0"/>
              <a:t>  • Multilingual LLM for regional languages</a:t>
            </a:r>
          </a:p>
          <a:p>
            <a:pPr marL="457200" lvl="1" indent="0">
              <a:buNone/>
              <a:defRPr sz="1400"/>
            </a:pPr>
            <a:r>
              <a:rPr dirty="0"/>
              <a:t>  • API-based translation service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 err="1"/>
              <a:t>HuggingFace</a:t>
            </a:r>
            <a:r>
              <a:rPr dirty="0"/>
              <a:t> Direct Usage</a:t>
            </a:r>
          </a:p>
          <a:p>
            <a:pPr marL="457200" lvl="1" indent="0">
              <a:buNone/>
              <a:defRPr sz="1400"/>
            </a:pPr>
            <a:r>
              <a:rPr dirty="0"/>
              <a:t>  • IndicTrans2 model (ai4bharat/indictrans2-en-indic-1B)</a:t>
            </a:r>
          </a:p>
          <a:p>
            <a:pPr marL="457200" lvl="1" indent="0">
              <a:buNone/>
              <a:defRPr sz="1400"/>
            </a:pPr>
            <a:r>
              <a:rPr dirty="0"/>
              <a:t>  • No external API dependencies</a:t>
            </a:r>
          </a:p>
          <a:p>
            <a:pPr marL="457200" lvl="1" indent="0">
              <a:buNone/>
              <a:defRPr sz="1400"/>
            </a:pPr>
            <a:r>
              <a:rPr dirty="0"/>
              <a:t>  • Full control and customization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🌐 Supported Languages: English, Hindi, Bengali, Telugu, Marathi, Tamil + 5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📚 RAG System - Intelligent Assistance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  <a:defRPr sz="1800" b="1"/>
            </a:pPr>
            <a:r>
              <a:rPr dirty="0"/>
              <a:t>Retrieval-Augmented Generation for Passenger Support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🔧 Technology Stack:</a:t>
            </a:r>
          </a:p>
          <a:p>
            <a:pPr marL="0" indent="0">
              <a:buNone/>
              <a:defRPr sz="1400"/>
            </a:pPr>
            <a:r>
              <a:rPr dirty="0"/>
              <a:t>• </a:t>
            </a:r>
            <a:r>
              <a:rPr dirty="0" err="1"/>
              <a:t>ChromaDB</a:t>
            </a:r>
            <a:r>
              <a:rPr dirty="0"/>
              <a:t>: Vector database for semantic search</a:t>
            </a:r>
          </a:p>
          <a:p>
            <a:pPr marL="0" indent="0">
              <a:buNone/>
              <a:defRPr sz="1400"/>
            </a:pPr>
            <a:r>
              <a:rPr dirty="0"/>
              <a:t>• all-MiniLM-L6-v2: Embedding model</a:t>
            </a:r>
          </a:p>
          <a:p>
            <a:pPr marL="0" indent="0">
              <a:buNone/>
              <a:defRPr sz="1400"/>
            </a:pPr>
            <a:r>
              <a:rPr dirty="0"/>
              <a:t>• 4 knowledge documents with 2,000+ words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📖 Knowledge Base Topics:</a:t>
            </a:r>
          </a:p>
          <a:p>
            <a:pPr marL="0" indent="0">
              <a:buNone/>
              <a:defRPr sz="1400"/>
            </a:pPr>
            <a:r>
              <a:rPr dirty="0"/>
              <a:t>• IRCTC Cancellation Rules &amp; TDR Process</a:t>
            </a:r>
          </a:p>
          <a:p>
            <a:pPr marL="0" indent="0">
              <a:buNone/>
              <a:defRPr sz="1400"/>
            </a:pPr>
            <a:r>
              <a:rPr dirty="0"/>
              <a:t>• Station Facilities (lounges, </a:t>
            </a:r>
            <a:r>
              <a:rPr dirty="0" err="1"/>
              <a:t>WiFi</a:t>
            </a:r>
            <a:r>
              <a:rPr dirty="0"/>
              <a:t>, food)</a:t>
            </a:r>
          </a:p>
          <a:p>
            <a:pPr marL="0" indent="0">
              <a:buNone/>
              <a:defRPr sz="1400"/>
            </a:pPr>
            <a:r>
              <a:rPr dirty="0"/>
              <a:t>• Complaint Procedures &amp; </a:t>
            </a:r>
            <a:r>
              <a:rPr dirty="0" err="1"/>
              <a:t>RailMadad</a:t>
            </a:r>
            <a:r>
              <a:rPr dirty="0"/>
              <a:t> App</a:t>
            </a:r>
          </a:p>
          <a:p>
            <a:pPr marL="0" indent="0">
              <a:buNone/>
              <a:defRPr sz="1400"/>
            </a:pPr>
            <a:r>
              <a:rPr dirty="0"/>
              <a:t>• Passenger Rights &amp; Compensation Eligibility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💡 Example: If delay &gt; 180 min → RAG retrieves refund policies → User gets compensation guidance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Live Demo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 b="1"/>
            </a:pPr>
            <a:r>
              <a:rPr dirty="0"/>
              <a:t>Interactive Widget Interface:</a:t>
            </a:r>
          </a:p>
          <a:p>
            <a:pPr marL="0" indent="0">
              <a:buNone/>
              <a:defRPr sz="1400"/>
            </a:pPr>
            <a:r>
              <a:rPr dirty="0"/>
              <a:t>• Station selection: NDLS, ALD, PNBE, MGS</a:t>
            </a:r>
          </a:p>
          <a:p>
            <a:pPr marL="0" indent="0">
              <a:buNone/>
              <a:defRPr sz="1400"/>
            </a:pPr>
            <a:r>
              <a:rPr dirty="0"/>
              <a:t>• Train details: Number, type, date/time</a:t>
            </a:r>
          </a:p>
          <a:p>
            <a:pPr marL="0" indent="0">
              <a:buNone/>
              <a:defRPr sz="1400"/>
            </a:pPr>
            <a:r>
              <a:rPr dirty="0"/>
              <a:t>• Language preference: 6 Indian languages</a:t>
            </a:r>
          </a:p>
          <a:p>
            <a:pPr marL="0" indent="0">
              <a:buNone/>
              <a:defRPr sz="1400"/>
            </a:pPr>
            <a:r>
              <a:rPr dirty="0"/>
              <a:t>• One-click prediction with full analysis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📊 Sample Prediction Output:</a:t>
            </a:r>
          </a:p>
          <a:p>
            <a:pPr marL="0" indent="0">
              <a:buNone/>
              <a:defRPr sz="1400"/>
            </a:pPr>
            <a:r>
              <a:rPr dirty="0"/>
              <a:t>• Predicted Delay: 107 minutes (MODERATE)</a:t>
            </a:r>
          </a:p>
          <a:p>
            <a:pPr marL="0" indent="0">
              <a:buNone/>
              <a:defRPr sz="1400"/>
            </a:pPr>
            <a:r>
              <a:rPr dirty="0"/>
              <a:t>• Data Source: Live API (&lt; 2 days) or Historical (&gt; 2 days)</a:t>
            </a:r>
          </a:p>
          <a:p>
            <a:pPr marL="0" indent="0">
              <a:buNone/>
              <a:defRPr sz="1400"/>
            </a:pPr>
            <a:r>
              <a:rPr dirty="0"/>
              <a:t>• Weather: Temp, humidity, visibility, fog warnings</a:t>
            </a:r>
          </a:p>
          <a:p>
            <a:pPr marL="0" indent="0">
              <a:buNone/>
              <a:defRPr sz="1400"/>
            </a:pPr>
            <a:r>
              <a:rPr dirty="0"/>
              <a:t>• Air Quality: PM2.5, PM10, AQI with pollution alerts</a:t>
            </a:r>
          </a:p>
          <a:p>
            <a:pPr marL="0" indent="0">
              <a:buNone/>
              <a:defRPr sz="1400"/>
            </a:pPr>
            <a:r>
              <a:rPr dirty="0"/>
              <a:t>• Alternative Trains: If delay &gt; 120 min</a:t>
            </a:r>
          </a:p>
          <a:p>
            <a:pPr marL="0" indent="0">
              <a:buNone/>
              <a:defRPr sz="1400"/>
            </a:pPr>
            <a:r>
              <a:rPr dirty="0"/>
              <a:t>• RAG Assistance: Refund info, station facilities, helplines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Competition Requirements Met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  <a:defRPr sz="1800" b="1">
                <a:solidFill>
                  <a:srgbClr val="28A745"/>
                </a:solidFill>
              </a:defRPr>
            </a:pPr>
            <a:r>
              <a:rPr dirty="0"/>
              <a:t>✅ Indian AI Model Integration</a:t>
            </a:r>
          </a:p>
          <a:p>
            <a:pPr marL="457200" lvl="1" indent="0">
              <a:buNone/>
              <a:defRPr sz="1400"/>
            </a:pPr>
            <a:r>
              <a:rPr dirty="0"/>
              <a:t>  • </a:t>
            </a:r>
            <a:r>
              <a:rPr dirty="0" err="1"/>
              <a:t>Bhashini</a:t>
            </a:r>
            <a:r>
              <a:rPr dirty="0"/>
              <a:t> API with IndicTrans2 (Government-backed)</a:t>
            </a:r>
          </a:p>
          <a:p>
            <a:pPr marL="457200" lvl="1" indent="0">
              <a:buNone/>
              <a:defRPr sz="1400"/>
            </a:pPr>
            <a:r>
              <a:rPr dirty="0"/>
              <a:t>  • </a:t>
            </a:r>
            <a:r>
              <a:rPr dirty="0" err="1"/>
              <a:t>Sarvam</a:t>
            </a:r>
            <a:r>
              <a:rPr dirty="0"/>
              <a:t> AI integration code provided</a:t>
            </a:r>
          </a:p>
          <a:p>
            <a:pPr marL="457200" lvl="1" indent="0">
              <a:buNone/>
              <a:defRPr sz="1400"/>
            </a:pPr>
            <a:r>
              <a:rPr dirty="0"/>
              <a:t>  • </a:t>
            </a:r>
            <a:r>
              <a:rPr dirty="0" err="1"/>
              <a:t>HuggingFace</a:t>
            </a:r>
            <a:r>
              <a:rPr dirty="0"/>
              <a:t> direct usage option</a:t>
            </a:r>
          </a:p>
          <a:p>
            <a:pPr marL="457200" lvl="1" indent="0">
              <a:buNone/>
              <a:defRPr sz="1400"/>
            </a:pPr>
            <a:r>
              <a:rPr dirty="0"/>
              <a:t>  • Multilingual support: 10+ Indian languages</a:t>
            </a:r>
          </a:p>
          <a:p>
            <a:pPr marL="0" indent="0">
              <a:buNone/>
              <a:defRPr sz="1800" b="1">
                <a:solidFill>
                  <a:srgbClr val="28A745"/>
                </a:solidFill>
              </a:defRPr>
            </a:pPr>
            <a:r>
              <a:rPr dirty="0"/>
              <a:t>✅ User-Facing Component</a:t>
            </a:r>
          </a:p>
          <a:p>
            <a:pPr marL="457200" lvl="1" indent="0">
              <a:buNone/>
              <a:defRPr sz="1400"/>
            </a:pPr>
            <a:r>
              <a:rPr dirty="0"/>
              <a:t>  • Interactive notebook widgets (working!)</a:t>
            </a:r>
          </a:p>
          <a:p>
            <a:pPr marL="457200" lvl="1" indent="0">
              <a:buNone/>
              <a:defRPr sz="1400"/>
            </a:pPr>
            <a:r>
              <a:rPr dirty="0"/>
              <a:t>  • Production </a:t>
            </a:r>
            <a:r>
              <a:rPr dirty="0" err="1"/>
              <a:t>Streamlit</a:t>
            </a:r>
            <a:r>
              <a:rPr dirty="0"/>
              <a:t> app (deployment-ready)</a:t>
            </a:r>
          </a:p>
          <a:p>
            <a:pPr marL="457200" lvl="1" indent="0">
              <a:buNone/>
              <a:defRPr sz="1400"/>
            </a:pPr>
            <a:r>
              <a:rPr dirty="0"/>
              <a:t>  • Professional UI with charts and visualizations</a:t>
            </a:r>
          </a:p>
          <a:p>
            <a:pPr marL="457200" lvl="1" indent="0">
              <a:buNone/>
              <a:defRPr sz="1400"/>
            </a:pPr>
            <a:r>
              <a:rPr dirty="0"/>
              <a:t>  • Real-time parameter changes</a:t>
            </a:r>
          </a:p>
          <a:p>
            <a:pPr marL="0" indent="0">
              <a:buNone/>
              <a:defRPr sz="1800" b="1">
                <a:solidFill>
                  <a:srgbClr val="28A745"/>
                </a:solidFill>
              </a:defRPr>
            </a:pPr>
            <a:r>
              <a:rPr dirty="0"/>
              <a:t>✅ </a:t>
            </a:r>
            <a:r>
              <a:rPr dirty="0" err="1"/>
              <a:t>Databricks</a:t>
            </a:r>
            <a:r>
              <a:rPr dirty="0"/>
              <a:t> Platform</a:t>
            </a:r>
          </a:p>
          <a:p>
            <a:pPr marL="457200" lvl="1" indent="0">
              <a:buNone/>
              <a:defRPr sz="1400"/>
            </a:pPr>
            <a:r>
              <a:rPr dirty="0"/>
              <a:t>  • Built on </a:t>
            </a:r>
            <a:r>
              <a:rPr dirty="0" err="1"/>
              <a:t>Databricks</a:t>
            </a:r>
            <a:r>
              <a:rPr dirty="0"/>
              <a:t> </a:t>
            </a:r>
            <a:r>
              <a:rPr dirty="0" err="1"/>
              <a:t>serverless</a:t>
            </a:r>
            <a:r>
              <a:rPr dirty="0"/>
              <a:t> compute</a:t>
            </a:r>
          </a:p>
          <a:p>
            <a:pPr marL="457200" lvl="1" indent="0">
              <a:buNone/>
              <a:defRPr sz="1400"/>
            </a:pPr>
            <a:r>
              <a:rPr dirty="0"/>
              <a:t>  • Unity Catalog for data management</a:t>
            </a:r>
          </a:p>
          <a:p>
            <a:pPr marL="457200" lvl="1" indent="0">
              <a:buNone/>
              <a:defRPr sz="1400"/>
            </a:pPr>
            <a:r>
              <a:rPr dirty="0"/>
              <a:t>  • 4-layer medallion architecture</a:t>
            </a:r>
          </a:p>
          <a:p>
            <a:pPr marL="457200" lvl="1" indent="0">
              <a:buNone/>
              <a:defRPr sz="1400"/>
            </a:pPr>
            <a:r>
              <a:rPr dirty="0"/>
              <a:t>  • </a:t>
            </a:r>
            <a:r>
              <a:rPr dirty="0" err="1"/>
              <a:t>MLflow</a:t>
            </a:r>
            <a:r>
              <a:rPr dirty="0"/>
              <a:t> model tracking (optional)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Key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  <a:defRPr sz="1600" b="1">
                <a:solidFill>
                  <a:srgbClr val="FF6B6B"/>
                </a:solidFill>
              </a:defRPr>
            </a:pPr>
            <a:r>
              <a:rPr dirty="0"/>
              <a:t>🚀 Smart Prediction Logic</a:t>
            </a:r>
          </a:p>
          <a:p>
            <a:pPr marL="457200" lvl="1" indent="0">
              <a:buNone/>
              <a:defRPr sz="1300"/>
            </a:pPr>
            <a:r>
              <a:rPr dirty="0"/>
              <a:t>Automatically switches between live API data (&lt; 2 days) and historical averages (&gt; 2 days) for optimal accuracy and cost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  <a:defRPr sz="1600" b="1">
                <a:solidFill>
                  <a:srgbClr val="FF6B6B"/>
                </a:solidFill>
              </a:defRPr>
            </a:pPr>
            <a:r>
              <a:rPr dirty="0"/>
              <a:t>🚀 Fog Indicators</a:t>
            </a:r>
          </a:p>
          <a:p>
            <a:pPr marL="457200" lvl="1" indent="0">
              <a:buNone/>
              <a:defRPr sz="1300"/>
            </a:pPr>
            <a:r>
              <a:rPr dirty="0"/>
              <a:t>Dew Point Spread calculation - when &lt; 2.5°C, fog is highly likely. This is a key meteorological indicator often overlooked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  <a:defRPr sz="1600" b="1">
                <a:solidFill>
                  <a:srgbClr val="FF6B6B"/>
                </a:solidFill>
              </a:defRPr>
            </a:pPr>
            <a:r>
              <a:rPr dirty="0"/>
              <a:t>🚀 RAG-Powered Assistance</a:t>
            </a:r>
          </a:p>
          <a:p>
            <a:pPr marL="457200" lvl="1" indent="0">
              <a:buNone/>
              <a:defRPr sz="1300"/>
            </a:pPr>
            <a:r>
              <a:rPr dirty="0"/>
              <a:t>Not just predictions - provides compensation guidance, station info, and passenger rights using semantic search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  <a:defRPr sz="1600" b="1">
                <a:solidFill>
                  <a:srgbClr val="FF6B6B"/>
                </a:solidFill>
              </a:defRPr>
            </a:pPr>
            <a:r>
              <a:rPr dirty="0"/>
              <a:t>🚀 Production Architecture</a:t>
            </a:r>
          </a:p>
          <a:p>
            <a:pPr marL="457200" lvl="1" indent="0">
              <a:buNone/>
              <a:defRPr sz="1300"/>
            </a:pPr>
            <a:r>
              <a:rPr dirty="0"/>
              <a:t>Full medallion architecture (Bronze → Silver → Gold → Consumption) following data engineering best practices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  <a:defRPr sz="1600" b="1">
                <a:solidFill>
                  <a:srgbClr val="FF6B6B"/>
                </a:solidFill>
              </a:defRPr>
            </a:pPr>
            <a:r>
              <a:rPr dirty="0"/>
              <a:t>🚀 Accessibility First</a:t>
            </a:r>
          </a:p>
          <a:p>
            <a:pPr marL="457200" lvl="1" indent="0">
              <a:buNone/>
              <a:defRPr sz="1300"/>
            </a:pPr>
            <a:r>
              <a:rPr dirty="0"/>
              <a:t>Indian AI models enable regional language support, making the system accessible to 95%+ of Indian passengers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🌍 Social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  <a:defRPr sz="1800" b="1">
                <a:solidFill>
                  <a:srgbClr val="FF6B6B"/>
                </a:solidFill>
              </a:defRPr>
            </a:pPr>
            <a:r>
              <a:rPr dirty="0"/>
              <a:t>Beyond Technology - Real People, Real Benefits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• 23+ Million Daily Passengers</a:t>
            </a:r>
          </a:p>
          <a:p>
            <a:pPr marL="457200" lvl="1" indent="0">
              <a:buNone/>
              <a:defRPr sz="1300"/>
            </a:pPr>
            <a:r>
              <a:rPr dirty="0"/>
              <a:t>Every accurate prediction saves time, reduces frustration, and helps families plan better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• Accessibility for All</a:t>
            </a:r>
          </a:p>
          <a:p>
            <a:pPr marL="457200" lvl="1" indent="0">
              <a:buNone/>
              <a:defRPr sz="1300"/>
            </a:pPr>
            <a:r>
              <a:rPr dirty="0"/>
              <a:t>Regional language support (Hindi, Bengali, Telugu, Tamil, etc.) ensures everyone can access critical information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• Empowering Passengers</a:t>
            </a:r>
          </a:p>
          <a:p>
            <a:pPr marL="457200" lvl="1" indent="0">
              <a:buNone/>
              <a:defRPr sz="1300"/>
            </a:pPr>
            <a:r>
              <a:rPr dirty="0"/>
              <a:t>Knowledge of rights and compensation policies helps travelers demand what they deserve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• Economic Impact</a:t>
            </a:r>
          </a:p>
          <a:p>
            <a:pPr marL="457200" lvl="1" indent="0">
              <a:buNone/>
              <a:defRPr sz="1300"/>
            </a:pPr>
            <a:r>
              <a:rPr dirty="0"/>
              <a:t>Better planning reduces missed connections, lost productivity, and wasted money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• Safety &amp; Comfort</a:t>
            </a:r>
          </a:p>
          <a:p>
            <a:pPr marL="457200" lvl="1" indent="0">
              <a:buNone/>
              <a:defRPr sz="1300"/>
            </a:pPr>
            <a:r>
              <a:rPr dirty="0"/>
              <a:t>Alternative train suggestions and station facility info improve passenger experience and safety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🔮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600" b="1"/>
            </a:pPr>
            <a:r>
              <a:rPr dirty="0"/>
              <a:t>Phase 1: Current System ✅</a:t>
            </a:r>
          </a:p>
          <a:p>
            <a:pPr marL="457200" lvl="1" indent="0">
              <a:buNone/>
              <a:defRPr sz="1400"/>
            </a:pPr>
            <a:r>
              <a:rPr dirty="0"/>
              <a:t>• ML predictions with RAG assistance</a:t>
            </a:r>
          </a:p>
          <a:p>
            <a:pPr marL="457200" lvl="1" indent="0">
              <a:buNone/>
              <a:defRPr sz="1400"/>
            </a:pPr>
            <a:r>
              <a:rPr dirty="0"/>
              <a:t>• Indian AI multilingual support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Phase 2: Enhanced Intelligence (Q2 2026)</a:t>
            </a:r>
          </a:p>
          <a:p>
            <a:pPr marL="457200" lvl="1" indent="0">
              <a:buNone/>
              <a:defRPr sz="1300"/>
            </a:pPr>
            <a:r>
              <a:rPr dirty="0"/>
              <a:t>• Deep learning models (LSTM, Transformers) for sequence prediction</a:t>
            </a:r>
          </a:p>
          <a:p>
            <a:pPr marL="457200" lvl="1" indent="0">
              <a:buNone/>
              <a:defRPr sz="1300"/>
            </a:pPr>
            <a:r>
              <a:rPr dirty="0"/>
              <a:t>• Real-time train tracking integration</a:t>
            </a:r>
          </a:p>
          <a:p>
            <a:pPr marL="457200" lvl="1" indent="0">
              <a:buNone/>
              <a:defRPr sz="1300"/>
            </a:pPr>
            <a:r>
              <a:rPr dirty="0"/>
              <a:t>• Personalized recommendations based on user history</a:t>
            </a:r>
          </a:p>
          <a:p>
            <a:pPr marL="457200" lvl="1" indent="0">
              <a:buNone/>
              <a:defRPr sz="1300"/>
            </a:pPr>
            <a:r>
              <a:rPr dirty="0"/>
              <a:t>• SMS/WhatsApp notifications for predicted delays</a:t>
            </a:r>
          </a:p>
          <a:p>
            <a:pPr mar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>Phase 3: Scale &amp; Integration (Q3 2026)</a:t>
            </a:r>
          </a:p>
          <a:p>
            <a:pPr marL="457200" lvl="1" indent="0">
              <a:buNone/>
              <a:defRPr sz="1300"/>
            </a:pPr>
            <a:r>
              <a:rPr dirty="0"/>
              <a:t>• Expand to all major Indian railway stations</a:t>
            </a:r>
          </a:p>
          <a:p>
            <a:pPr marL="457200" lvl="1" indent="0">
              <a:buNone/>
              <a:defRPr sz="1300"/>
            </a:pPr>
            <a:r>
              <a:rPr dirty="0"/>
              <a:t>• Integration with IRCTC mobile app</a:t>
            </a:r>
          </a:p>
          <a:p>
            <a:pPr marL="457200" lvl="1" indent="0">
              <a:buNone/>
              <a:defRPr sz="1300"/>
            </a:pPr>
            <a:r>
              <a:rPr dirty="0"/>
              <a:t>• Partnership with Indian Railways for official deployment</a:t>
            </a:r>
          </a:p>
          <a:p>
            <a:pPr marL="457200" lvl="1" indent="0">
              <a:buNone/>
              <a:defRPr sz="1300"/>
            </a:pPr>
            <a:r>
              <a:rPr dirty="0"/>
              <a:t>• API for third-party travel apps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28A745"/>
                </a:solidFill>
              </a:defRPr>
            </a:pPr>
            <a:r>
              <a:t>Thank You! 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t>Train Delay Prediction System</a:t>
            </a:r>
          </a:p>
          <a:p>
            <a:endParaRPr/>
          </a:p>
          <a:p>
            <a:r>
              <a:t>🚂 Built with ❤️ on Databricks</a:t>
            </a:r>
          </a:p>
          <a:p>
            <a:r>
              <a:t>🇮🇳 Powered by Indian AI Models</a:t>
            </a:r>
          </a:p>
          <a:p>
            <a:endParaRPr/>
          </a:p>
          <a:p>
            <a:endParaRPr/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604</Words>
  <Application>Microsoft Office PowerPoint</Application>
  <PresentationFormat>On-screen Show (4:3)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🚂 Train Delay Prediction System</vt:lpstr>
      <vt:lpstr>🎯 Problem Statement</vt:lpstr>
      <vt:lpstr>🏗️ Four-Layer Medallion Architecture</vt:lpstr>
      <vt:lpstr>🤖 ML Model Performance</vt:lpstr>
      <vt:lpstr>🇮🇳 Indian AI Model Integration</vt:lpstr>
      <vt:lpstr>📚 RAG System - Intelligent Assistance</vt:lpstr>
      <vt:lpstr>🎬 Live Demo &amp; Results</vt:lpstr>
      <vt:lpstr>✅ Competition Requirements Met</vt:lpstr>
      <vt:lpstr>💡 Key Innovations</vt:lpstr>
      <vt:lpstr>🌍 Social Impact</vt:lpstr>
      <vt:lpstr>🔮 Future Roadmap</vt:lpstr>
      <vt:lpstr>Thank You! 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🚂 Train Delay Prediction System</dc:title>
  <dc:subject/>
  <dc:creator/>
  <cp:keywords/>
  <dc:description>generated using python-pptx</dc:description>
  <cp:lastModifiedBy>MIHIR PATEL (RA2312047010011)</cp:lastModifiedBy>
  <cp:revision>3</cp:revision>
  <dcterms:created xsi:type="dcterms:W3CDTF">2013-01-27T09:14:16Z</dcterms:created>
  <dcterms:modified xsi:type="dcterms:W3CDTF">2026-04-08T06:04:07Z</dcterms:modified>
  <cp:category/>
</cp:coreProperties>
</file>